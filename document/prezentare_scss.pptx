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ro-RO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680550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8428505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113101882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313184887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4068997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0825257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59570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91295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8911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94EBF5-08DC-2DA3-AE5E-FFB0578C2D2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1D5B196-E845-300C-E202-79C5BF7C0C9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FAED5A-A5B5-D1FC-8CC5-0B1764C907C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93111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5554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3329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E69F8-FDD7-414C-8AAD-B3F0FDCA0F1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5361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909288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111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2FB11F-0E1C-5F73-2BA6-164FF5FF053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39266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9087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7220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E1F7A1F-B323-71DB-F2AA-5085BC09A9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37903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25327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0650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176B3BA-0FDF-4629-213E-EC55DE52E19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8777327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951129950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888033036" name="Shape 1061"/>
          <p:cNvSpPr>
            <a:spLocks noChangeArrowheads="1" noGrp="1"/>
          </p:cNvSpPr>
          <p:nvPr userDrawn="1"/>
        </p:nvSpPr>
        <p:spPr bwMode="auto">
          <a:xfrm>
            <a:off x="6567031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3407358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9086581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3761040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6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61619373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61202093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571063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1870003737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6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094603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7177887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3954877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93774547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13260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91838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7094407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05692733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3149052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954587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9175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07595424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6613541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622026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89419633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701775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89481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0288084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13880201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70765521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82772882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8916760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90727705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462207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168801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0736327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78854503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37050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164086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38433275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2604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6489321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13408022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5032865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5784542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83003042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5751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796216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70568644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2637000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6493272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69799757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16610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850351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87151760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74611238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37415928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3859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0432376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7924470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7281109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2295196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57240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6811205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121951178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983503959" name="Shape 1061"/>
          <p:cNvSpPr>
            <a:spLocks noChangeArrowheads="1" noGrp="1"/>
          </p:cNvSpPr>
          <p:nvPr userDrawn="1"/>
        </p:nvSpPr>
        <p:spPr bwMode="auto">
          <a:xfrm>
            <a:off x="1637457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786583475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1527209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5111237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8848594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43173140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744156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1701521" y="1339644"/>
            <a:ext cx="8788956" cy="2476857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 fontScale="90000" lnSpcReduction="2000"/>
          </a:bodyPr>
          <a:lstStyle/>
          <a:p>
            <a:pPr algn="ctr">
              <a:defRPr/>
            </a:pPr>
            <a:r>
              <a:rPr sz="4800" b="0" i="0" u="none">
                <a:solidFill>
                  <a:srgbClr val="000000"/>
                </a:solidFill>
                <a:latin typeface="Cantarell"/>
                <a:ea typeface="Cantarell"/>
                <a:cs typeface="Cantarell"/>
              </a:rPr>
              <a:t>Sistem pentru detecția și raportarea evenimentelor de</a:t>
            </a:r>
            <a:endParaRPr sz="16000">
              <a:latin typeface="Cantarell"/>
              <a:cs typeface="Cantarell"/>
            </a:endParaRPr>
          </a:p>
          <a:p>
            <a:pPr algn="ctr">
              <a:defRPr/>
            </a:pPr>
            <a:r>
              <a:rPr sz="4800" b="0" i="0" u="none">
                <a:solidFill>
                  <a:srgbClr val="000000"/>
                </a:solidFill>
                <a:latin typeface="Cantarell"/>
                <a:ea typeface="Cantarell"/>
                <a:cs typeface="Cantarell"/>
              </a:rPr>
              <a:t>securitate în rețele industriale de comunicații.</a:t>
            </a:r>
            <a:endParaRPr>
              <a:latin typeface="Cantarell"/>
              <a:cs typeface="Cantarell"/>
            </a:endParaRPr>
          </a:p>
        </p:txBody>
      </p:sp>
      <p:sp>
        <p:nvSpPr>
          <p:cNvPr id="823749719" name="Subtitle 2"/>
          <p:cNvSpPr>
            <a:spLocks noGrp="1"/>
          </p:cNvSpPr>
          <p:nvPr>
            <p:ph type="subTitle" idx="1"/>
          </p:nvPr>
        </p:nvSpPr>
        <p:spPr bwMode="auto">
          <a:xfrm>
            <a:off x="3813952" y="5572564"/>
            <a:ext cx="6720746" cy="720079"/>
          </a:xfrm>
        </p:spPr>
        <p:txBody>
          <a:bodyPr/>
          <a:lstStyle/>
          <a:p>
            <a:pPr>
              <a:defRPr/>
            </a:pPr>
            <a:r>
              <a:rPr lang="ro-RO" sz="2600">
                <a:latin typeface="Cantarell"/>
                <a:ea typeface="Cantarell"/>
                <a:cs typeface="Cantarell"/>
              </a:rPr>
              <a:t>Theodor Predescu, grupa 342A1</a:t>
            </a:r>
            <a:endParaRPr lang="ro-RO" sz="2600">
              <a:latin typeface="Cantarell"/>
              <a:cs typeface="Cantarel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901495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>
                <a:latin typeface="Cantarell"/>
                <a:ea typeface="Cantarell"/>
                <a:cs typeface="Cantarell"/>
              </a:rPr>
              <a:t>Domeniul de lucru</a:t>
            </a:r>
            <a:endParaRPr>
              <a:latin typeface="Cantarell"/>
              <a:cs typeface="Cantarell"/>
            </a:endParaRPr>
          </a:p>
        </p:txBody>
      </p:sp>
      <p:sp>
        <p:nvSpPr>
          <p:cNvPr id="111310376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2925096"/>
            <a:ext cx="10972800" cy="3201067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>
                <a:latin typeface="Cantarell"/>
                <a:ea typeface="Cantarell"/>
                <a:cs typeface="Cantarell"/>
              </a:rPr>
              <a:t>Mediul industrial</a:t>
            </a:r>
            <a:endParaRPr>
              <a:latin typeface="Cantarell"/>
              <a:cs typeface="Cantarel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430388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o-RO">
                <a:latin typeface="Cantarell"/>
                <a:ea typeface="Cantarell"/>
                <a:cs typeface="Cantarell"/>
              </a:rPr>
              <a:t>Problema adresat</a:t>
            </a:r>
            <a:r>
              <a:rPr lang="ro-RO">
                <a:latin typeface="Cantarell"/>
                <a:ea typeface="Cantarell"/>
                <a:cs typeface="Cantarell"/>
              </a:rPr>
              <a:t>ă</a:t>
            </a:r>
            <a:endParaRPr>
              <a:latin typeface="Cantarell"/>
              <a:cs typeface="Cantarell"/>
            </a:endParaRPr>
          </a:p>
        </p:txBody>
      </p:sp>
      <p:sp>
        <p:nvSpPr>
          <p:cNvPr id="123433477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2605548"/>
            <a:ext cx="10972800" cy="3520615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ro-RO">
                <a:latin typeface="Cantarell"/>
                <a:ea typeface="Cantarell"/>
                <a:cs typeface="Cantarell"/>
              </a:rPr>
              <a:t>Prevenirea intruziunilor</a:t>
            </a:r>
            <a:r>
              <a:rPr lang="en-US">
                <a:latin typeface="Cantarell"/>
                <a:ea typeface="Cantarell"/>
                <a:cs typeface="Cantarell"/>
              </a:rPr>
              <a:t> </a:t>
            </a:r>
            <a:r>
              <a:rPr lang="ro-RO">
                <a:latin typeface="Cantarell"/>
                <a:ea typeface="Cantarell"/>
                <a:cs typeface="Cantarell"/>
              </a:rPr>
              <a:t>pe dispozitive specifice</a:t>
            </a:r>
            <a:endParaRPr>
              <a:latin typeface="Cantarell"/>
              <a:cs typeface="Cantarel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544211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latin typeface="Cantarell"/>
                <a:ea typeface="Cantarell"/>
                <a:cs typeface="Cantarell"/>
              </a:rPr>
              <a:t>Soluția propusă</a:t>
            </a:r>
            <a:endParaRPr>
              <a:latin typeface="Cantarell"/>
              <a:cs typeface="Cantarell"/>
            </a:endParaRPr>
          </a:p>
        </p:txBody>
      </p:sp>
      <p:sp>
        <p:nvSpPr>
          <p:cNvPr id="145691200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2513370"/>
            <a:ext cx="10972800" cy="3612792"/>
          </a:xfrm>
        </p:spPr>
        <p:txBody>
          <a:bodyPr/>
          <a:lstStyle/>
          <a:p>
            <a:pPr>
              <a:defRPr/>
            </a:pPr>
            <a:r>
              <a:rPr lang="ro-RO">
                <a:latin typeface="Cantarell"/>
                <a:ea typeface="Cantarell"/>
                <a:cs typeface="Cantarell"/>
              </a:rPr>
              <a:t>Aplicație de monitorizare și</a:t>
            </a:r>
            <a:r>
              <a:rPr lang="ro-RO">
                <a:latin typeface="Cantarell"/>
                <a:ea typeface="Cantarell"/>
                <a:cs typeface="Cantarell"/>
              </a:rPr>
              <a:t> gestionare</a:t>
            </a:r>
            <a:r>
              <a:rPr lang="ro-RO">
                <a:latin typeface="Cantarell"/>
                <a:ea typeface="Cantarell"/>
                <a:cs typeface="Cantarell"/>
              </a:rPr>
              <a:t> a conexiunilor </a:t>
            </a:r>
            <a:r>
              <a:rPr lang="ro-RO">
                <a:latin typeface="Cantarell"/>
                <a:ea typeface="Cantarell"/>
                <a:cs typeface="Cantarell"/>
              </a:rPr>
              <a:t>  </a:t>
            </a:r>
            <a:r>
              <a:rPr lang="ro-RO">
                <a:latin typeface="Cantarell"/>
                <a:ea typeface="Cantarell"/>
                <a:cs typeface="Cantarell"/>
              </a:rPr>
              <a:t>într</a:t>
            </a:r>
            <a:r>
              <a:rPr lang="ro-RO">
                <a:latin typeface="Cantarell"/>
                <a:ea typeface="Cantarell"/>
                <a:cs typeface="Cantarell"/>
              </a:rPr>
              <a:t>-</a:t>
            </a:r>
            <a:r>
              <a:rPr lang="ro-RO">
                <a:latin typeface="Cantarell"/>
                <a:ea typeface="Cantarell"/>
                <a:cs typeface="Cantarell"/>
              </a:rPr>
              <a:t>o rețea</a:t>
            </a:r>
            <a:endParaRPr lang="ro-RO">
              <a:latin typeface="Cantarell"/>
              <a:cs typeface="Cantarell"/>
            </a:endParaRPr>
          </a:p>
          <a:p>
            <a:pPr>
              <a:defRPr/>
            </a:pPr>
            <a:r>
              <a:rPr lang="ro-RO">
                <a:latin typeface="Cantarell"/>
                <a:ea typeface="Cantarell"/>
                <a:cs typeface="Cantarell"/>
              </a:rPr>
              <a:t>Soluție bazată pe </a:t>
            </a:r>
            <a:r>
              <a:rPr lang="ro-RO">
                <a:latin typeface="Cantarell"/>
                <a:ea typeface="Cantarell"/>
                <a:cs typeface="Cantarell"/>
              </a:rPr>
              <a:t>reguli</a:t>
            </a:r>
            <a:endParaRPr lang="ro-RO">
              <a:latin typeface="Cantarell"/>
              <a:cs typeface="Cantarel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96020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o-RO">
                <a:latin typeface="Cantarell"/>
                <a:ea typeface="Cantarell"/>
                <a:cs typeface="Cantarell"/>
              </a:rPr>
              <a:t>Componente principale</a:t>
            </a:r>
            <a:endParaRPr>
              <a:latin typeface="Cantarell"/>
              <a:cs typeface="Cantarell"/>
            </a:endParaRPr>
          </a:p>
        </p:txBody>
      </p:sp>
      <p:sp>
        <p:nvSpPr>
          <p:cNvPr id="211023828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2525661"/>
            <a:ext cx="10972800" cy="3600502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sz="3200" b="0" i="0" u="none">
                <a:solidFill>
                  <a:srgbClr val="404040"/>
                </a:solidFill>
                <a:latin typeface="Cantarell"/>
                <a:ea typeface="Cantarell"/>
                <a:cs typeface="Cantarell"/>
              </a:rPr>
              <a:t>1. componenta de filtrare la nivel kernel</a:t>
            </a:r>
            <a:endParaRPr sz="3200">
              <a:solidFill>
                <a:srgbClr val="404040"/>
              </a:solidFill>
              <a:latin typeface="Cantarell"/>
              <a:cs typeface="Cantarell"/>
            </a:endParaRPr>
          </a:p>
          <a:p>
            <a:pPr marL="0" indent="0">
              <a:buFont typeface="Arial"/>
              <a:buNone/>
              <a:defRPr/>
            </a:pPr>
            <a:r>
              <a:rPr sz="3200" b="0" i="0" u="none">
                <a:solidFill>
                  <a:srgbClr val="404040"/>
                </a:solidFill>
                <a:latin typeface="Cantarell"/>
                <a:ea typeface="Cantarell"/>
                <a:cs typeface="Cantarell"/>
              </a:rPr>
              <a:t>2. componenta de intermediere</a:t>
            </a:r>
            <a:endParaRPr sz="3200">
              <a:solidFill>
                <a:srgbClr val="404040"/>
              </a:solidFill>
              <a:latin typeface="Cantarell"/>
              <a:cs typeface="Cantarell"/>
            </a:endParaRPr>
          </a:p>
          <a:p>
            <a:pPr marL="0" indent="0">
              <a:buFont typeface="Arial"/>
              <a:buNone/>
              <a:defRPr/>
            </a:pPr>
            <a:r>
              <a:rPr sz="3200" b="0" i="0" u="none">
                <a:solidFill>
                  <a:srgbClr val="404040"/>
                </a:solidFill>
                <a:latin typeface="Cantarell"/>
                <a:ea typeface="Cantarell"/>
                <a:cs typeface="Cantarell"/>
              </a:rPr>
              <a:t>3. componenta centrală</a:t>
            </a:r>
            <a:endParaRPr sz="3200">
              <a:solidFill>
                <a:srgbClr val="404040"/>
              </a:solidFill>
              <a:latin typeface="Cantarell"/>
              <a:cs typeface="Cantarell"/>
            </a:endParaRPr>
          </a:p>
          <a:p>
            <a:pPr marL="0" indent="0">
              <a:buFont typeface="Arial"/>
              <a:buNone/>
              <a:defRPr/>
            </a:pPr>
            <a:r>
              <a:rPr sz="3200" b="0" i="0" u="none">
                <a:solidFill>
                  <a:srgbClr val="404040"/>
                </a:solidFill>
                <a:latin typeface="Cantarell"/>
                <a:ea typeface="Cantarell"/>
                <a:cs typeface="Cantarell"/>
              </a:rPr>
              <a:t>4. componenta de administrare</a:t>
            </a:r>
            <a:endParaRPr sz="3200">
              <a:solidFill>
                <a:srgbClr val="404040"/>
              </a:solidFill>
              <a:latin typeface="Cantarell"/>
              <a:cs typeface="Cantarell"/>
            </a:endParaRPr>
          </a:p>
          <a:p>
            <a:pPr>
              <a:defRPr/>
            </a:pPr>
            <a:endParaRPr>
              <a:solidFill>
                <a:srgbClr val="404040"/>
              </a:solidFill>
              <a:latin typeface="Cantarell"/>
              <a:cs typeface="Cantarel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643191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Cum funcționează ?</a:t>
            </a:r>
            <a:endParaRPr/>
          </a:p>
        </p:txBody>
      </p:sp>
      <p:sp>
        <p:nvSpPr>
          <p:cNvPr id="177745401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2832919"/>
            <a:ext cx="10972800" cy="2826774"/>
          </a:xfrm>
        </p:spPr>
        <p:txBody>
          <a:bodyPr/>
          <a:lstStyle/>
          <a:p>
            <a:pPr>
              <a:defRPr/>
            </a:pPr>
            <a:r>
              <a:rPr/>
              <a:t>Aplicarea regulilor alese pe echipament</a:t>
            </a:r>
            <a:endParaRPr/>
          </a:p>
          <a:p>
            <a:pPr>
              <a:defRPr/>
            </a:pPr>
            <a:r>
              <a:rPr>
                <a:solidFill>
                  <a:srgbClr val="404040"/>
                </a:solidFill>
              </a:rPr>
              <a:t>Extragerea </a:t>
            </a:r>
            <a:r>
              <a:rPr/>
              <a:t>și vizualizarea conexiunilor în mod grafic</a:t>
            </a:r>
            <a:endParaRPr/>
          </a:p>
          <a:p>
            <a:pPr>
              <a:defRPr/>
            </a:pPr>
            <a:r>
              <a:rPr/>
              <a:t>Modificarea acestora în timp real</a:t>
            </a:r>
            <a:endParaRPr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936370" name="Title 1"/>
          <p:cNvSpPr>
            <a:spLocks noGrp="1"/>
          </p:cNvSpPr>
          <p:nvPr>
            <p:ph type="title"/>
          </p:nvPr>
        </p:nvSpPr>
        <p:spPr bwMode="auto">
          <a:xfrm>
            <a:off x="609599" y="1515961"/>
            <a:ext cx="10972800" cy="1143000"/>
          </a:xfrm>
        </p:spPr>
        <p:txBody>
          <a:bodyPr/>
          <a:lstStyle/>
          <a:p>
            <a:pPr algn="ctr">
              <a:defRPr/>
            </a:pPr>
            <a:r>
              <a:rPr/>
              <a:t>DEMO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5787259" name="Title 1"/>
          <p:cNvSpPr>
            <a:spLocks noGrp="1"/>
          </p:cNvSpPr>
          <p:nvPr>
            <p:ph type="title"/>
          </p:nvPr>
        </p:nvSpPr>
        <p:spPr bwMode="auto">
          <a:xfrm>
            <a:off x="609599" y="2026009"/>
            <a:ext cx="10972800" cy="1143000"/>
          </a:xfrm>
        </p:spPr>
        <p:txBody>
          <a:bodyPr/>
          <a:lstStyle/>
          <a:p>
            <a:pPr algn="ctr">
              <a:defRPr/>
            </a:pPr>
            <a:r>
              <a:rPr/>
              <a:t>Vă mulțumesc!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2026-05-16T19:44:38Z</dcterms:modified>
</cp:coreProperties>
</file>