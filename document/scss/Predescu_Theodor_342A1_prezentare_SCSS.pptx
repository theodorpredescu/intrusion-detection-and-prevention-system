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ro-RO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6090"/>
        <p:guide pos="1176" orient="horz"/>
        <p:guide pos="1537"/>
        <p:guide pos="3089" orient="horz"/>
      </p:guideLst>
    </p:cSldViewPr>
  </p:slideViewPr>
  <p:gridSpacing cx="228600" cy="2286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617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8423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1009566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931202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71545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297247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5351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2356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6335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612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299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876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4EBF5-08DC-2DA3-AE5E-FFB0578C2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404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560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575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5B196-E845-300C-E202-79C5BF7C0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378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286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610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FAED5A-A5B5-D1FC-8CC5-0B1764C907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14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21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211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E69F8-FDD7-414C-8AAD-B3F0FDCA0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59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459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33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2FB11F-0E1C-5F73-2BA6-164FF5FF05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42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0239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905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F7A1F-B323-71DB-F2AA-5085BC09A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013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6179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996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6B3BA-0FDF-4629-213E-EC55DE52E1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62564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4292871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1698753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40943771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0937738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3377526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889508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423187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259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813258235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574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56634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05133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135239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0641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29748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55352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15306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928813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51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7475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28709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62104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521397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48649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156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5777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770212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937733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48987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824838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03668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06766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32953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7022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9519372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67670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2378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7641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5442840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68986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50718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913678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48263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431832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076146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3897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819431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100379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818504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25041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697217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9639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220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49971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53677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88538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83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92239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20450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41518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97782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5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47162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60079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73392048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4526475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30131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35472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140832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25365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media2.svg"/><Relationship Id="rId5" Type="http://schemas.openxmlformats.org/officeDocument/2006/relationships/image" Target="../media/image6.png"/><Relationship Id="rId6" Type="http://schemas.openxmlformats.org/officeDocument/2006/relationships/image" Target="../media/media3.svg"/><Relationship Id="rId7" Type="http://schemas.openxmlformats.org/officeDocument/2006/relationships/image" Target="../media/image7.png"/><Relationship Id="rId8" Type="http://schemas.openxmlformats.org/officeDocument/2006/relationships/image" Target="../media/media4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media5.svg"/><Relationship Id="rId5" Type="http://schemas.openxmlformats.org/officeDocument/2006/relationships/image" Target="../media/image9.png"/><Relationship Id="rId6" Type="http://schemas.openxmlformats.org/officeDocument/2006/relationships/image" Target="../media/media6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104526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745741" y="1917289"/>
            <a:ext cx="8788956" cy="24768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Sistem pentru detecția și raportarea evenimentelor de</a:t>
            </a:r>
            <a:endParaRPr sz="16000">
              <a:latin typeface="Cantarell"/>
              <a:cs typeface="Cantarell"/>
            </a:endParaRPr>
          </a:p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securitate în rețele industriale de comunicații.</a:t>
            </a:r>
            <a:endParaRPr>
              <a:latin typeface="Cantarell"/>
              <a:cs typeface="Cantarell"/>
            </a:endParaRPr>
          </a:p>
        </p:txBody>
      </p:sp>
      <p:sp>
        <p:nvSpPr>
          <p:cNvPr id="13193687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37403" y="5572563"/>
            <a:ext cx="6720745" cy="720079"/>
          </a:xfrm>
        </p:spPr>
        <p:txBody>
          <a:bodyPr/>
          <a:lstStyle/>
          <a:p>
            <a:pPr>
              <a:defRPr/>
            </a:pPr>
            <a:r>
              <a:rPr lang="ro-RO" sz="2600">
                <a:latin typeface="Cantarell"/>
                <a:ea typeface="Cantarell"/>
                <a:cs typeface="Cantarell"/>
              </a:rPr>
              <a:t>Theodor Predescu, grupa 342A1</a:t>
            </a:r>
            <a:endParaRPr lang="ro-RO" sz="2600"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40871" name="Title 1"/>
          <p:cNvSpPr>
            <a:spLocks noGrp="1"/>
          </p:cNvSpPr>
          <p:nvPr>
            <p:ph type="title"/>
          </p:nvPr>
        </p:nvSpPr>
        <p:spPr bwMode="auto">
          <a:xfrm>
            <a:off x="609598" y="784686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>
                <a:latin typeface="Cantarell"/>
                <a:ea typeface="Cantarell"/>
                <a:cs typeface="Cantarell"/>
              </a:rPr>
              <a:t>Domeniul de lucru</a:t>
            </a:r>
            <a:endParaRPr>
              <a:latin typeface="Cantarell"/>
              <a:cs typeface="Cantarell"/>
            </a:endParaRPr>
          </a:p>
        </p:txBody>
      </p:sp>
      <p:sp>
        <p:nvSpPr>
          <p:cNvPr id="143140574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435144"/>
            <a:ext cx="5486400" cy="927919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latin typeface="Cantarell"/>
                <a:ea typeface="Cantarell"/>
                <a:cs typeface="Cantarell"/>
              </a:rPr>
              <a:t>Mediul industrial</a:t>
            </a:r>
            <a:endParaRPr>
              <a:latin typeface="Cantarell"/>
              <a:cs typeface="Cantarell"/>
            </a:endParaRPr>
          </a:p>
        </p:txBody>
      </p:sp>
      <p:pic>
        <p:nvPicPr>
          <p:cNvPr id="4150141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06106" y="3576667"/>
            <a:ext cx="4276292" cy="2445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076464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Problema adresat</a:t>
            </a:r>
            <a:r>
              <a:rPr lang="ro-RO">
                <a:latin typeface="Cantarell"/>
                <a:ea typeface="Cantarell"/>
                <a:cs typeface="Cantarell"/>
              </a:rPr>
              <a:t>ă</a:t>
            </a:r>
            <a:endParaRPr>
              <a:latin typeface="Cantarell"/>
              <a:cs typeface="Cantarell"/>
            </a:endParaRPr>
          </a:p>
        </p:txBody>
      </p:sp>
      <p:sp>
        <p:nvSpPr>
          <p:cNvPr id="20305924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447434"/>
            <a:ext cx="5486400" cy="114914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2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Protecția dispozitivelor împotriva intruziunilor</a:t>
            </a:r>
            <a:endParaRPr>
              <a:latin typeface="Cantarell"/>
              <a:cs typeface="Cantarell"/>
            </a:endParaRPr>
          </a:p>
        </p:txBody>
      </p:sp>
      <p:pic>
        <p:nvPicPr>
          <p:cNvPr id="21123912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63737" y="1501774"/>
            <a:ext cx="1055724" cy="1055724"/>
          </a:xfrm>
          <a:prstGeom prst="rect">
            <a:avLst/>
          </a:prstGeom>
        </p:spPr>
      </p:pic>
      <p:pic>
        <p:nvPicPr>
          <p:cNvPr id="65891842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0710" y="3227994"/>
            <a:ext cx="3105778" cy="31057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72292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>
                <a:latin typeface="Cantarell"/>
                <a:ea typeface="Cantarell"/>
                <a:cs typeface="Cantarell"/>
              </a:rPr>
              <a:t>Soluția propusă</a:t>
            </a:r>
            <a:endParaRPr>
              <a:latin typeface="Cantarell"/>
              <a:cs typeface="Cantarell"/>
            </a:endParaRPr>
          </a:p>
        </p:txBody>
      </p:sp>
      <p:sp>
        <p:nvSpPr>
          <p:cNvPr id="2633649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342915"/>
            <a:ext cx="10972800" cy="1560871"/>
          </a:xfrm>
        </p:spPr>
        <p:txBody>
          <a:bodyPr/>
          <a:lstStyle/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Aplicație de monitorizare și</a:t>
            </a:r>
            <a:r>
              <a:rPr lang="ro-RO">
                <a:latin typeface="Cantarell"/>
                <a:ea typeface="Cantarell"/>
                <a:cs typeface="Cantarell"/>
              </a:rPr>
              <a:t> gestionare</a:t>
            </a:r>
            <a:r>
              <a:rPr lang="ro-RO">
                <a:latin typeface="Cantarell"/>
                <a:ea typeface="Cantarell"/>
                <a:cs typeface="Cantarell"/>
              </a:rPr>
              <a:t> a conexiunilor </a:t>
            </a:r>
            <a:r>
              <a:rPr lang="ro-RO">
                <a:latin typeface="Cantarell"/>
                <a:ea typeface="Cantarell"/>
                <a:cs typeface="Cantarell"/>
              </a:rPr>
              <a:t>  </a:t>
            </a:r>
            <a:r>
              <a:rPr lang="ro-RO">
                <a:latin typeface="Cantarell"/>
                <a:ea typeface="Cantarell"/>
                <a:cs typeface="Cantarell"/>
              </a:rPr>
              <a:t>într</a:t>
            </a:r>
            <a:r>
              <a:rPr lang="ro-RO">
                <a:latin typeface="Cantarell"/>
                <a:ea typeface="Cantarell"/>
                <a:cs typeface="Cantarell"/>
              </a:rPr>
              <a:t>-</a:t>
            </a:r>
            <a:r>
              <a:rPr lang="ro-RO">
                <a:latin typeface="Cantarell"/>
                <a:ea typeface="Cantarell"/>
                <a:cs typeface="Cantarell"/>
              </a:rPr>
              <a:t>o rețea</a:t>
            </a:r>
            <a:endParaRPr lang="ro-RO">
              <a:latin typeface="Cantarell"/>
              <a:cs typeface="Cantarell"/>
            </a:endParaRPr>
          </a:p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Soluție bazată pe </a:t>
            </a:r>
            <a:r>
              <a:rPr lang="ro-RO">
                <a:latin typeface="Cantarell"/>
                <a:ea typeface="Cantarell"/>
                <a:cs typeface="Cantarell"/>
              </a:rPr>
              <a:t>reguli</a:t>
            </a:r>
            <a:endParaRPr lang="ro-RO">
              <a:latin typeface="Cantarell"/>
              <a:cs typeface="Cantarell"/>
            </a:endParaRPr>
          </a:p>
        </p:txBody>
      </p:sp>
      <p:pic>
        <p:nvPicPr>
          <p:cNvPr id="40331232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836237" y="1374274"/>
            <a:ext cx="1397030" cy="139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5126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Componente principale</a:t>
            </a:r>
            <a:endParaRPr>
              <a:latin typeface="Cantarell"/>
              <a:cs typeface="Cantarell"/>
            </a:endParaRPr>
          </a:p>
        </p:txBody>
      </p:sp>
      <p:sp>
        <p:nvSpPr>
          <p:cNvPr id="10984918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213919"/>
            <a:ext cx="10972800" cy="2138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38080" indent="-438080">
              <a:buFont typeface="Arial"/>
              <a:buAutoNum type="arabicPeriod"/>
              <a:defRPr/>
            </a:pPr>
            <a:r>
              <a:rPr sz="32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filtrare la nivel kernel</a:t>
            </a:r>
            <a:endParaRPr sz="32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32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intermediere</a:t>
            </a:r>
            <a:endParaRPr sz="32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32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centrală</a:t>
            </a:r>
            <a:endParaRPr sz="32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32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administrare</a:t>
            </a:r>
            <a:endParaRPr sz="3200">
              <a:solidFill>
                <a:srgbClr val="404040"/>
              </a:solidFill>
              <a:latin typeface="Cantarell"/>
              <a:cs typeface="Cantarell"/>
            </a:endParaRPr>
          </a:p>
        </p:txBody>
      </p:sp>
      <p:pic>
        <p:nvPicPr>
          <p:cNvPr id="168557408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128267" y="3220667"/>
            <a:ext cx="922500" cy="922500"/>
          </a:xfrm>
          <a:prstGeom prst="rect">
            <a:avLst/>
          </a:prstGeom>
        </p:spPr>
      </p:pic>
      <p:pic>
        <p:nvPicPr>
          <p:cNvPr id="320508631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123267" y="4095677"/>
            <a:ext cx="937499" cy="937499"/>
          </a:xfrm>
          <a:prstGeom prst="rect">
            <a:avLst/>
          </a:prstGeom>
        </p:spPr>
      </p:pic>
      <p:pic>
        <p:nvPicPr>
          <p:cNvPr id="712493639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9893267" y="4721518"/>
            <a:ext cx="932268" cy="932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51727" name="Title 1"/>
          <p:cNvSpPr>
            <a:spLocks noGrp="1"/>
          </p:cNvSpPr>
          <p:nvPr>
            <p:ph type="title"/>
          </p:nvPr>
        </p:nvSpPr>
        <p:spPr bwMode="auto">
          <a:xfrm>
            <a:off x="658760" y="846137"/>
            <a:ext cx="10972800" cy="1143000"/>
          </a:xfrm>
        </p:spPr>
        <p:txBody>
          <a:bodyPr/>
          <a:lstStyle/>
          <a:p>
            <a:pPr>
              <a:defRPr/>
            </a:pPr>
            <a:r>
              <a:rPr/>
              <a:t>Cum funcționează ?</a:t>
            </a:r>
            <a:endParaRPr/>
          </a:p>
        </p:txBody>
      </p:sp>
      <p:sp>
        <p:nvSpPr>
          <p:cNvPr id="13037509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385932"/>
            <a:ext cx="10972800" cy="15178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sz="8000"/>
              <a:t>Aplicarea regulilor alese pe echipament</a:t>
            </a:r>
            <a:endParaRPr sz="8000"/>
          </a:p>
          <a:p>
            <a:pPr>
              <a:defRPr/>
            </a:pPr>
            <a:r>
              <a:rPr sz="8000">
                <a:solidFill>
                  <a:srgbClr val="404040"/>
                </a:solidFill>
              </a:rPr>
              <a:t>Extragerea </a:t>
            </a:r>
            <a:r>
              <a:rPr sz="8000"/>
              <a:t>și vizualizarea conexiunilor în mod grafic</a:t>
            </a:r>
            <a:endParaRPr sz="8000"/>
          </a:p>
          <a:p>
            <a:pPr>
              <a:defRPr/>
            </a:pPr>
            <a:r>
              <a:rPr sz="8000"/>
              <a:t>Modificarea acestora în timp real</a:t>
            </a:r>
            <a:endParaRPr sz="8000"/>
          </a:p>
        </p:txBody>
      </p:sp>
      <p:pic>
        <p:nvPicPr>
          <p:cNvPr id="449636059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105374" y="5339999"/>
            <a:ext cx="787892" cy="787892"/>
          </a:xfrm>
          <a:prstGeom prst="rect">
            <a:avLst/>
          </a:prstGeom>
        </p:spPr>
      </p:pic>
      <p:pic>
        <p:nvPicPr>
          <p:cNvPr id="55354657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945847" y="1866899"/>
            <a:ext cx="988279" cy="988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861846" name="Title 1"/>
          <p:cNvSpPr>
            <a:spLocks noGrp="1"/>
          </p:cNvSpPr>
          <p:nvPr>
            <p:ph type="title"/>
          </p:nvPr>
        </p:nvSpPr>
        <p:spPr bwMode="auto">
          <a:xfrm>
            <a:off x="609599" y="1978024"/>
            <a:ext cx="10972800" cy="1143000"/>
          </a:xfrm>
        </p:spPr>
        <p:txBody>
          <a:bodyPr/>
          <a:lstStyle/>
          <a:p>
            <a:pPr algn="ctr"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486448" name="Title 1"/>
          <p:cNvSpPr>
            <a:spLocks noGrp="1"/>
          </p:cNvSpPr>
          <p:nvPr>
            <p:ph type="title"/>
          </p:nvPr>
        </p:nvSpPr>
        <p:spPr bwMode="auto">
          <a:xfrm>
            <a:off x="609598" y="1978024"/>
            <a:ext cx="10972800" cy="1143000"/>
          </a:xfrm>
        </p:spPr>
        <p:txBody>
          <a:bodyPr/>
          <a:lstStyle/>
          <a:p>
            <a:pPr algn="ctr">
              <a:defRPr/>
            </a:pPr>
            <a:r>
              <a:rPr/>
              <a:t>Vă mulțumesc!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2026-05-17T20:09:19Z</dcterms:modified>
</cp:coreProperties>
</file>