
<file path=[Content_Types].xml><?xml version="1.0" encoding="utf-8"?>
<Types xmlns="http://schemas.openxmlformats.org/package/2006/content-types">
  <Default Extension="xml" ContentType="application/xml"/>
  <Default Extension="webm" ContentType="video/webm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ro-RO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6139"/>
        <p:guide pos="1176" orient="horz"/>
        <p:guide pos="1537"/>
        <p:guide pos="2988" orient="horz"/>
      </p:guideLst>
    </p:cSldViewPr>
  </p:slideViewPr>
  <p:gridSpacing cx="228600" cy="2286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24598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790033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39773801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4694510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934393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980830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1133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808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200">
                <a:latin typeface="Arial"/>
                <a:cs typeface="Arial"/>
              </a:rPr>
              <a:t>Buna ziua, numele meu este Predescu Theodor si astazi va voi prezenta aplicatia mea, care reprezinta un sistem de detectie a evenimentelor</a:t>
            </a:r>
            <a:r>
              <a:rPr lang="en-US" sz="2200">
                <a:latin typeface="Arial"/>
                <a:cs typeface="Arial"/>
              </a:rPr>
              <a:t> de intruziune</a:t>
            </a:r>
            <a:endParaRPr lang="en-US" sz="2200">
              <a:latin typeface="Arial"/>
              <a:cs typeface="Arial"/>
            </a:endParaRPr>
          </a:p>
        </p:txBody>
      </p:sp>
      <p:sp>
        <p:nvSpPr>
          <p:cNvPr id="728324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066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748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/>
              <a:t>Ca si mediu de lucru, aplicatia este destinata mediului industrial, unde se doreste ca traficul dintre dispozitive sa fie cat mai controlat.</a:t>
            </a:r>
            <a:endParaRPr lang="en-US" sz="1800"/>
          </a:p>
          <a:p>
            <a:pPr>
              <a:defRPr/>
            </a:pPr>
            <a:endParaRPr sz="1800"/>
          </a:p>
          <a:p>
            <a:pPr>
              <a:defRPr/>
            </a:pPr>
            <a:r>
              <a:rPr lang="en-US" sz="1800"/>
              <a:t>Odata cu cresterea conectivitatii si a unei nevoi de integrare cu retele externe, cerintele de securitate au devenit din ce in ce mai complexe, iar</a:t>
            </a:r>
            <a:endParaRPr lang="en-US" sz="1800"/>
          </a:p>
          <a:p>
            <a:pPr>
              <a:defRPr/>
            </a:pPr>
            <a:r>
              <a:rPr lang="en-US" sz="1800"/>
              <a:t>Studii asupra protocoalelor industriale, cum ar fi studii a traficului ce utilizeaza protocolul Modbus, arata o crestere</a:t>
            </a:r>
            <a:r>
              <a:rPr lang="en-US" sz="1800"/>
              <a:t> a activitatii de scanare a retelelor din ultimii ani, ceea ce arata o expunere mult mai mare la intruziuni, iar multe din aceste protocoale nu au fost create pe baza ideii de protectie impotriva acestor noi scenarii. </a:t>
            </a:r>
            <a:endParaRPr lang="en-US" sz="1800"/>
          </a:p>
        </p:txBody>
      </p:sp>
      <p:sp>
        <p:nvSpPr>
          <p:cNvPr id="997795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94EBF5-08DC-2DA3-AE5E-FFB0578C2D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906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5453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aceea sunt necesare solutii suplimentare care sa poata functiona impreuna cu aceste protocoale fara a le afecta punctele lor forte.</a:t>
            </a:r>
            <a:endParaRPr/>
          </a:p>
          <a:p>
            <a:pPr>
              <a:defRPr/>
            </a:pPr>
            <a:r>
              <a:rPr lang="en-US" sz="2000"/>
              <a:t>Aplicatia propusa ofera un mecanism de monitorizare si filtrare a traficului, adaptat mediului industrial, cu scopul de a creste nivelul de control si de securitate al comunicatiei.</a:t>
            </a:r>
            <a:endParaRPr lang="en-US" sz="2000"/>
          </a:p>
        </p:txBody>
      </p:sp>
      <p:sp>
        <p:nvSpPr>
          <p:cNvPr id="142246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D5B196-E845-300C-E202-79C5BF7C0C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5654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79609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/>
              <a:t>Aplicatia este bazata pe definirea explicita a conexiunilor permise in retea, si ofera posibilitatea de vizualizare a traficului si de modificare a configuratiilor. Solutia se bazeaza pe frameworkul Netfiler din sisteme de operare Linux pentru a intercepta, extrage informatii si a oferi posibilitatea de a refuza comunicarea. Informatii din pachetele sunt trimise apoi mai departe unei aplicatii desktop pentru vizualizare text dar si grafica, aceasta aplicatie reprezentand interfata administratorului, care are posibilitate de a modifica regulile de pe toate dispozitivele.</a:t>
            </a:r>
            <a:endParaRPr/>
          </a:p>
        </p:txBody>
      </p:sp>
      <p:sp>
        <p:nvSpPr>
          <p:cNvPr id="2074235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FAED5A-A5B5-D1FC-8CC5-0B1764C907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03AB8-7D1C-C7A9-514B-8B896099F4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5488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370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200"/>
              <a:t>Ca si elemente principale, aplicatia este formata din 4 componente</a:t>
            </a:r>
            <a:endParaRPr lang="en-US" sz="2200"/>
          </a:p>
          <a:p>
            <a:pPr>
              <a:defRPr/>
            </a:pPr>
            <a:r>
              <a:rPr lang="en-US" sz="2200"/>
              <a:t>O componenta de filtrare, ce reprezinta un modul kernel</a:t>
            </a:r>
            <a:endParaRPr lang="en-US" sz="2200"/>
          </a:p>
          <a:p>
            <a:pPr>
              <a:defRPr/>
            </a:pPr>
            <a:r>
              <a:rPr lang="en-US" sz="2200"/>
              <a:t>O componenta de intermediere, reprezentanta de un daemon</a:t>
            </a:r>
            <a:endParaRPr lang="en-US" sz="2200"/>
          </a:p>
          <a:p>
            <a:pPr>
              <a:defRPr/>
            </a:pPr>
            <a:r>
              <a:rPr lang="en-US" sz="2200"/>
              <a:t>Componenta centrala, serverul aplicatiei</a:t>
            </a:r>
            <a:endParaRPr lang="en-US" sz="2200"/>
          </a:p>
          <a:p>
            <a:pPr>
              <a:defRPr/>
            </a:pPr>
            <a:r>
              <a:rPr lang="en-US" sz="2200"/>
              <a:t>Si componenta de administrare, anume aplicatia desktop</a:t>
            </a:r>
            <a:endParaRPr lang="en-US" sz="2200"/>
          </a:p>
        </p:txBody>
      </p:sp>
      <p:sp>
        <p:nvSpPr>
          <p:cNvPr id="8887790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E69F8-FDD7-414C-8AAD-B3F0FDCA0F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214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2041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Aplicatia poate functiona in 4 moduri: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Permisiv, in care raporteaza conexiunile nepermise, dar nu le blocheaza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Reactiv, in care raporteaza si blocheaza traficul nepermis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Dezactivat, in care nu raporteaza si nu blocheaza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 modul de antrenare, mod folosit pentru definire a traficului permis, in care toate conexiunile care au fost inregistrate sunt adaugate automat in lista de conexiuni permise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Deci modulul kernel, care face filtrarea pe baza regulilor de trafic, stocate local pentru acces rapid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sz="18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Intre modulul kernel si restul sistemului se afla un daemon de intermediere, care sincronizeaza regulile si transmite informatiile despre pachete catre server.</a:t>
            </a:r>
            <a:endParaRPr sz="18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componenta centrala, serverul, care colecteaza informatii de la toate dispozitivele, face o scurta prelucrare a lor si trimite informatiile componentei de administrare, din care se poate vizualizarea si modifica configurarea dispozitivelor.</a:t>
            </a:r>
            <a:endParaRPr sz="1800"/>
          </a:p>
        </p:txBody>
      </p:sp>
      <p:sp>
        <p:nvSpPr>
          <p:cNvPr id="102572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2FB11F-0E1C-5F73-2BA6-164FF5FF05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06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8058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549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1F7A1F-B323-71DB-F2AA-5085BC09A9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492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465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397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76B3BA-0FDF-4629-213E-EC55DE52E1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293090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02137264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82832682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52697043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23243668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54441590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9114982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402662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7674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502812060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4865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7685538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79757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773763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4665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721813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58007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174124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828086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663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551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6362446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7869308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120824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300427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690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5163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283327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104243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8867975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5727831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484381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2708728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8376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8650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1962514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835523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8810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65622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6416545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31523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090892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04675916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1542422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180338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325959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5552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61731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0492470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2350353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939699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139127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2566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8939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5420555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223810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017840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2003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63759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9038589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479117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360908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0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994994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36601979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67940342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6365301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846701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9137812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126916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565100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media1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media2.svg"/><Relationship Id="rId5" Type="http://schemas.openxmlformats.org/officeDocument/2006/relationships/image" Target="../media/image8.png"/><Relationship Id="rId6" Type="http://schemas.openxmlformats.org/officeDocument/2006/relationships/image" Target="../media/media3.svg"/><Relationship Id="rId7" Type="http://schemas.openxmlformats.org/officeDocument/2006/relationships/image" Target="../media/image9.png"/><Relationship Id="rId8" Type="http://schemas.openxmlformats.org/officeDocument/2006/relationships/image" Target="../media/media4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media5.svg"/><Relationship Id="rId5" Type="http://schemas.openxmlformats.org/officeDocument/2006/relationships/image" Target="../media/image11.png"/><Relationship Id="rId6" Type="http://schemas.openxmlformats.org/officeDocument/2006/relationships/image" Target="../media/media6.sv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microsoft.com/office/2007/relationships/media" Target="../media/media7.webm"/><Relationship Id="rId5" Type="http://schemas.openxmlformats.org/officeDocument/2006/relationships/video" Target="../media/media7.webm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525971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745741" y="1917289"/>
            <a:ext cx="8788956" cy="247685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sz="4800" b="0" i="0" u="none">
                <a:solidFill>
                  <a:srgbClr val="000000"/>
                </a:solidFill>
                <a:latin typeface="Cantarell"/>
                <a:ea typeface="Cantarell"/>
                <a:cs typeface="Cantarell"/>
              </a:rPr>
              <a:t>Sistem pentru detecția și raportarea evenimentelor de</a:t>
            </a:r>
            <a:endParaRPr sz="16000">
              <a:latin typeface="Cantarell"/>
              <a:cs typeface="Cantarell"/>
            </a:endParaRPr>
          </a:p>
          <a:p>
            <a:pPr algn="ctr">
              <a:defRPr/>
            </a:pPr>
            <a:r>
              <a:rPr sz="4800" b="0" i="0" u="none">
                <a:solidFill>
                  <a:srgbClr val="000000"/>
                </a:solidFill>
                <a:latin typeface="Cantarell"/>
                <a:ea typeface="Cantarell"/>
                <a:cs typeface="Cantarell"/>
              </a:rPr>
              <a:t>securitate în rețele industriale de comunicații.</a:t>
            </a:r>
            <a:endParaRPr>
              <a:latin typeface="Cantarell"/>
              <a:cs typeface="Cantarell"/>
            </a:endParaRPr>
          </a:p>
        </p:txBody>
      </p:sp>
      <p:sp>
        <p:nvSpPr>
          <p:cNvPr id="158391067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489919" y="5228302"/>
            <a:ext cx="5083309" cy="100780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1600">
                <a:solidFill>
                  <a:srgbClr val="808080"/>
                </a:solidFill>
                <a:latin typeface="Cantarell"/>
                <a:ea typeface="Cantarell"/>
                <a:cs typeface="Cantarell"/>
              </a:rPr>
              <a:t>Absolvent: </a:t>
            </a:r>
            <a:r>
              <a:rPr lang="ro-RO" sz="1600">
                <a:solidFill>
                  <a:srgbClr val="808080"/>
                </a:solidFill>
                <a:latin typeface="Cantarell"/>
                <a:ea typeface="Cantarell"/>
                <a:cs typeface="Cantarell"/>
              </a:rPr>
              <a:t>Theodor </a:t>
            </a:r>
            <a:r>
              <a:rPr lang="ro-RO" sz="1600">
                <a:solidFill>
                  <a:srgbClr val="808080"/>
                </a:solidFill>
                <a:latin typeface="Cantarell"/>
                <a:ea typeface="Cantarell"/>
                <a:cs typeface="Cantarell"/>
              </a:rPr>
              <a:t>Predescu, grupa 342A1</a:t>
            </a:r>
            <a:endParaRPr sz="1600">
              <a:solidFill>
                <a:srgbClr val="808080"/>
              </a:solidFill>
              <a:latin typeface="Cantarell"/>
              <a:ea typeface="Cantarell"/>
              <a:cs typeface="Cantarell"/>
            </a:endParaRPr>
          </a:p>
          <a:p>
            <a:pPr>
              <a:defRPr/>
            </a:pPr>
            <a:endParaRPr sz="1600">
              <a:latin typeface="Cantarell"/>
              <a:cs typeface="Cantarell"/>
            </a:endParaRPr>
          </a:p>
        </p:txBody>
      </p:sp>
      <p:sp>
        <p:nvSpPr>
          <p:cNvPr id="1860226843" name="Subtitle 2"/>
          <p:cNvSpPr>
            <a:spLocks noGrp="1"/>
          </p:cNvSpPr>
          <p:nvPr/>
        </p:nvSpPr>
        <p:spPr bwMode="auto">
          <a:xfrm flipH="0" flipV="0">
            <a:off x="644641" y="5228302"/>
            <a:ext cx="5083308" cy="121673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r" defTabSz="914400" rtl="0">
              <a:spcBef>
                <a:spcPts val="0"/>
              </a:spcBef>
              <a:buFont typeface="Arial"/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spcBef>
                <a:spcPts val="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spcBef>
                <a:spcPts val="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spcBef>
                <a:spcPts val="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spcBef>
                <a:spcPts val="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spcBef>
                <a:spcPts val="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spcBef>
                <a:spcPts val="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spcBef>
                <a:spcPts val="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spcBef>
                <a:spcPts val="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600" b="0" i="0" u="none">
                <a:solidFill>
                  <a:srgbClr val="808080"/>
                </a:solidFill>
                <a:latin typeface="Cantarell"/>
                <a:ea typeface="Cantarell"/>
                <a:cs typeface="Cantarell"/>
              </a:rPr>
              <a:t>Conducător științific: Conf. dr. Ing. Florin Daniel Anton </a:t>
            </a:r>
            <a:endParaRPr sz="1600">
              <a:solidFill>
                <a:srgbClr val="808080"/>
              </a:solidFill>
              <a:latin typeface="Cantarell"/>
              <a:cs typeface="Cantarell"/>
            </a:endParaRPr>
          </a:p>
          <a:p>
            <a:pPr algn="l">
              <a:defRPr/>
            </a:pPr>
            <a:r>
              <a:rPr sz="1600" b="0" i="0" u="none">
                <a:solidFill>
                  <a:srgbClr val="808080"/>
                </a:solidFill>
                <a:latin typeface="Cantarell"/>
                <a:ea typeface="Cantarell"/>
                <a:cs typeface="Cantarell"/>
              </a:rPr>
              <a:t>Asistent coordonator: Drd. Ing. Ana-Theodora Mitran</a:t>
            </a:r>
            <a:endParaRPr sz="1600">
              <a:latin typeface="Cantarell"/>
              <a:cs typeface="Cantarel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068118" name="Title 1"/>
          <p:cNvSpPr>
            <a:spLocks noGrp="1"/>
          </p:cNvSpPr>
          <p:nvPr>
            <p:ph type="title"/>
          </p:nvPr>
        </p:nvSpPr>
        <p:spPr bwMode="auto">
          <a:xfrm>
            <a:off x="609598" y="784686"/>
            <a:ext cx="10972800" cy="1143000"/>
          </a:xfrm>
        </p:spPr>
        <p:txBody>
          <a:bodyPr/>
          <a:lstStyle/>
          <a:p>
            <a:pPr algn="l">
              <a:defRPr/>
            </a:pPr>
            <a:r>
              <a:rPr b="1">
                <a:latin typeface="Cantarell"/>
                <a:ea typeface="Cantarell"/>
                <a:cs typeface="Cantarell"/>
              </a:rPr>
              <a:t>Domeniul de lucru</a:t>
            </a:r>
            <a:endParaRPr b="1">
              <a:latin typeface="Cantarell"/>
              <a:cs typeface="Cantarell"/>
            </a:endParaRPr>
          </a:p>
        </p:txBody>
      </p:sp>
      <p:sp>
        <p:nvSpPr>
          <p:cNvPr id="113166889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84419" y="3870928"/>
            <a:ext cx="5486400" cy="149923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buFont typeface="Arial"/>
              <a:buChar char="–"/>
              <a:defRPr/>
            </a:pPr>
            <a:r>
              <a:rPr sz="2200">
                <a:latin typeface="Cantarell"/>
                <a:ea typeface="Cantarell"/>
                <a:cs typeface="Cantarell"/>
              </a:rPr>
              <a:t>Rețele industriale specializate</a:t>
            </a:r>
            <a:endParaRPr sz="2200">
              <a:latin typeface="Cantarell"/>
              <a:ea typeface="Cantarell"/>
              <a:cs typeface="Cantarell"/>
            </a:endParaRPr>
          </a:p>
          <a:p>
            <a:pPr>
              <a:buFont typeface="Arial"/>
              <a:buChar char="–"/>
              <a:defRPr/>
            </a:pPr>
            <a:r>
              <a:rPr sz="2200">
                <a:latin typeface="Cantarell"/>
                <a:ea typeface="Cantarell"/>
                <a:cs typeface="Cantarell"/>
              </a:rPr>
              <a:t>Echipamente cu durata lungă de viață</a:t>
            </a:r>
            <a:endParaRPr sz="2200">
              <a:latin typeface="Cantarell"/>
              <a:ea typeface="Cantarell"/>
              <a:cs typeface="Cantarell"/>
            </a:endParaRPr>
          </a:p>
          <a:p>
            <a:pPr>
              <a:buFont typeface="Arial"/>
              <a:buChar char="–"/>
              <a:defRPr/>
            </a:pPr>
            <a:r>
              <a:rPr sz="2200">
                <a:latin typeface="Cantarell"/>
                <a:ea typeface="Cantarell"/>
                <a:cs typeface="Cantarell"/>
              </a:rPr>
              <a:t>Prioritate a disponibilității continue</a:t>
            </a:r>
            <a:endParaRPr sz="2600">
              <a:latin typeface="Cantarell"/>
              <a:cs typeface="Cantarell"/>
            </a:endParaRPr>
          </a:p>
        </p:txBody>
      </p:sp>
      <p:pic>
        <p:nvPicPr>
          <p:cNvPr id="2655128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306106" y="3576667"/>
            <a:ext cx="4276292" cy="2445405"/>
          </a:xfrm>
          <a:prstGeom prst="rect">
            <a:avLst/>
          </a:prstGeom>
        </p:spPr>
      </p:pic>
      <p:sp>
        <p:nvSpPr>
          <p:cNvPr id="1158314269" name=""/>
          <p:cNvSpPr txBox="1"/>
          <p:nvPr/>
        </p:nvSpPr>
        <p:spPr bwMode="auto">
          <a:xfrm rot="0" flipH="0" flipV="0">
            <a:off x="609597" y="3004983"/>
            <a:ext cx="50827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o-RO" sz="3600" b="0" i="0" u="none" strike="noStrike" cap="none" spc="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Mediul industrial</a:t>
            </a:r>
            <a:endParaRPr sz="3600">
              <a:solidFill>
                <a:srgbClr val="404040"/>
              </a:solidFill>
              <a:latin typeface="Cantarell"/>
              <a:cs typeface="Cantarel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827695" name="Title 1"/>
          <p:cNvSpPr>
            <a:spLocks noGrp="1"/>
          </p:cNvSpPr>
          <p:nvPr>
            <p:ph type="title"/>
          </p:nvPr>
        </p:nvSpPr>
        <p:spPr bwMode="auto">
          <a:xfrm>
            <a:off x="609598" y="835024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ro-RO" b="1">
                <a:latin typeface="Cantarell"/>
                <a:ea typeface="Cantarell"/>
                <a:cs typeface="Cantarell"/>
              </a:rPr>
              <a:t>Problema adresat</a:t>
            </a:r>
            <a:r>
              <a:rPr lang="ro-RO" b="1">
                <a:latin typeface="Cantarell"/>
                <a:ea typeface="Cantarell"/>
                <a:cs typeface="Cantarell"/>
              </a:rPr>
              <a:t>ă</a:t>
            </a:r>
            <a:endParaRPr b="1">
              <a:latin typeface="Cantarell"/>
              <a:cs typeface="Cantarell"/>
            </a:endParaRPr>
          </a:p>
        </p:txBody>
      </p:sp>
      <p:sp>
        <p:nvSpPr>
          <p:cNvPr id="143510360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7" y="2703869"/>
            <a:ext cx="5486400" cy="114914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36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Protecția dispozitivelor împotriva intruziunilor</a:t>
            </a:r>
            <a:endParaRPr sz="3600">
              <a:latin typeface="Cantarell"/>
              <a:cs typeface="Cantarell"/>
            </a:endParaRPr>
          </a:p>
        </p:txBody>
      </p:sp>
      <p:pic>
        <p:nvPicPr>
          <p:cNvPr id="12987299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963737" y="1501774"/>
            <a:ext cx="1055724" cy="1055724"/>
          </a:xfrm>
          <a:prstGeom prst="rect">
            <a:avLst/>
          </a:prstGeom>
        </p:spPr>
      </p:pic>
      <p:pic>
        <p:nvPicPr>
          <p:cNvPr id="179072648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200710" y="3227994"/>
            <a:ext cx="3105778" cy="3105778"/>
          </a:xfrm>
          <a:prstGeom prst="rect">
            <a:avLst/>
          </a:prstGeom>
        </p:spPr>
      </p:pic>
      <p:sp>
        <p:nvSpPr>
          <p:cNvPr id="1351101708" name=""/>
          <p:cNvSpPr txBox="1"/>
          <p:nvPr/>
        </p:nvSpPr>
        <p:spPr bwMode="auto">
          <a:xfrm rot="0" flipH="0" flipV="0">
            <a:off x="431224" y="4263721"/>
            <a:ext cx="7277470" cy="1768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19999" indent="-319999" algn="l">
              <a:buFont typeface="Arial"/>
              <a:buChar char="–"/>
              <a:defRPr/>
            </a:pPr>
            <a:r>
              <a:rPr lang="ro-RO" sz="22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Protocoale ce</a:t>
            </a:r>
            <a:r>
              <a:rPr lang="en-US" sz="22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 </a:t>
            </a:r>
            <a:r>
              <a:rPr lang="ro-RO" sz="22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adresează alt set de probleme</a:t>
            </a:r>
            <a:endParaRPr sz="2200"/>
          </a:p>
          <a:p>
            <a:pPr marL="319999" indent="-319999" algn="l">
              <a:buFont typeface="Arial"/>
              <a:buChar char="–"/>
              <a:defRPr/>
            </a:pPr>
            <a:r>
              <a:rPr sz="22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Dispozitive care comunică fără autentificare</a:t>
            </a:r>
            <a:endParaRPr sz="2200">
              <a:solidFill>
                <a:srgbClr val="404040"/>
              </a:solidFill>
              <a:latin typeface="Cantarell"/>
              <a:ea typeface="Cantarell"/>
              <a:cs typeface="Cantarell"/>
            </a:endParaRPr>
          </a:p>
          <a:p>
            <a:pPr marL="319999" indent="-319999" algn="l">
              <a:buFont typeface="Arial"/>
              <a:buChar char="–"/>
              <a:defRPr/>
            </a:pPr>
            <a:r>
              <a:rPr sz="22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Lipsă de vizibilitate asupra conexiunilor din rețea</a:t>
            </a:r>
            <a:endParaRPr sz="2200"/>
          </a:p>
          <a:p>
            <a:pPr marL="319999" indent="-319999" algn="l">
              <a:buFont typeface="Arial"/>
              <a:buChar char="–"/>
              <a:defRPr/>
            </a:pPr>
            <a:r>
              <a:rPr sz="22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Detectare târzie a conexiunilor neautorizate sau anormale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802509" name="Title 1"/>
          <p:cNvSpPr>
            <a:spLocks noGrp="1"/>
          </p:cNvSpPr>
          <p:nvPr>
            <p:ph type="title"/>
          </p:nvPr>
        </p:nvSpPr>
        <p:spPr bwMode="auto">
          <a:xfrm>
            <a:off x="609598" y="835024"/>
            <a:ext cx="10972800" cy="1143000"/>
          </a:xfrm>
        </p:spPr>
        <p:txBody>
          <a:bodyPr/>
          <a:lstStyle/>
          <a:p>
            <a:pPr>
              <a:defRPr/>
            </a:pPr>
            <a:r>
              <a:rPr b="1">
                <a:latin typeface="Cantarell"/>
                <a:ea typeface="Cantarell"/>
                <a:cs typeface="Cantarell"/>
              </a:rPr>
              <a:t>Soluția propusă</a:t>
            </a:r>
            <a:endParaRPr b="1">
              <a:latin typeface="Cantarell"/>
              <a:cs typeface="Cantarell"/>
            </a:endParaRPr>
          </a:p>
        </p:txBody>
      </p:sp>
      <p:sp>
        <p:nvSpPr>
          <p:cNvPr id="119938419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7" y="3342915"/>
            <a:ext cx="10200369" cy="1560870"/>
          </a:xfrm>
        </p:spPr>
        <p:txBody>
          <a:bodyPr/>
          <a:lstStyle/>
          <a:p>
            <a:pPr>
              <a:defRPr/>
            </a:pPr>
            <a:r>
              <a:rPr lang="ro-RO">
                <a:latin typeface="Cantarell"/>
                <a:ea typeface="Cantarell"/>
                <a:cs typeface="Cantarell"/>
              </a:rPr>
              <a:t>Aplicație de monitorizare și</a:t>
            </a:r>
            <a:r>
              <a:rPr lang="ro-RO">
                <a:latin typeface="Cantarell"/>
                <a:ea typeface="Cantarell"/>
                <a:cs typeface="Cantarell"/>
              </a:rPr>
              <a:t> gestionare</a:t>
            </a:r>
            <a:r>
              <a:rPr lang="ro-RO">
                <a:latin typeface="Cantarell"/>
                <a:ea typeface="Cantarell"/>
                <a:cs typeface="Cantarell"/>
              </a:rPr>
              <a:t> a conexiunilor </a:t>
            </a:r>
            <a:r>
              <a:rPr lang="ro-RO">
                <a:latin typeface="Cantarell"/>
                <a:ea typeface="Cantarell"/>
                <a:cs typeface="Cantarell"/>
              </a:rPr>
              <a:t>într</a:t>
            </a:r>
            <a:r>
              <a:rPr lang="ro-RO">
                <a:latin typeface="Cantarell"/>
                <a:ea typeface="Cantarell"/>
                <a:cs typeface="Cantarell"/>
              </a:rPr>
              <a:t>-</a:t>
            </a:r>
            <a:r>
              <a:rPr lang="ro-RO">
                <a:latin typeface="Cantarell"/>
                <a:ea typeface="Cantarell"/>
                <a:cs typeface="Cantarell"/>
              </a:rPr>
              <a:t>o rețea</a:t>
            </a:r>
            <a:endParaRPr lang="ro-RO">
              <a:latin typeface="Cantarell"/>
              <a:cs typeface="Cantarell"/>
            </a:endParaRPr>
          </a:p>
          <a:p>
            <a:pPr>
              <a:defRPr/>
            </a:pPr>
            <a:r>
              <a:rPr lang="ro-RO">
                <a:latin typeface="Cantarell"/>
                <a:ea typeface="Cantarell"/>
                <a:cs typeface="Cantarell"/>
              </a:rPr>
              <a:t>Soluție bazată pe </a:t>
            </a:r>
            <a:r>
              <a:rPr lang="ro-RO">
                <a:latin typeface="Cantarell"/>
                <a:ea typeface="Cantarell"/>
                <a:cs typeface="Cantarell"/>
              </a:rPr>
              <a:t>reguli</a:t>
            </a:r>
            <a:endParaRPr lang="ro-RO">
              <a:latin typeface="Cantarell"/>
              <a:cs typeface="Cantarell"/>
            </a:endParaRPr>
          </a:p>
        </p:txBody>
      </p:sp>
      <p:pic>
        <p:nvPicPr>
          <p:cNvPr id="1653886374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1836236" y="1632370"/>
            <a:ext cx="1397030" cy="1397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938998" name="Title 1"/>
          <p:cNvSpPr>
            <a:spLocks noGrp="1"/>
          </p:cNvSpPr>
          <p:nvPr>
            <p:ph type="title"/>
          </p:nvPr>
        </p:nvSpPr>
        <p:spPr bwMode="auto">
          <a:xfrm>
            <a:off x="609598" y="858767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US" b="1">
                <a:latin typeface="Cantarell"/>
                <a:ea typeface="Cantarell"/>
                <a:cs typeface="Cantarell"/>
              </a:rPr>
              <a:t>Tehnologii folosite</a:t>
            </a:r>
            <a:endParaRPr b="1">
              <a:latin typeface="Cantarell"/>
              <a:cs typeface="Cantarell"/>
            </a:endParaRPr>
          </a:p>
        </p:txBody>
      </p:sp>
      <p:pic>
        <p:nvPicPr>
          <p:cNvPr id="18853468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14795" y="3633288"/>
            <a:ext cx="4763194" cy="1110161"/>
          </a:xfrm>
          <a:prstGeom prst="rect">
            <a:avLst/>
          </a:prstGeom>
        </p:spPr>
      </p:pic>
      <p:pic>
        <p:nvPicPr>
          <p:cNvPr id="9293760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653170" y="3798023"/>
            <a:ext cx="4222609" cy="7806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5746" name="Title 1"/>
          <p:cNvSpPr>
            <a:spLocks noGrp="1"/>
          </p:cNvSpPr>
          <p:nvPr>
            <p:ph type="title"/>
          </p:nvPr>
        </p:nvSpPr>
        <p:spPr bwMode="auto">
          <a:xfrm>
            <a:off x="609598" y="835024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ro-RO" b="1">
                <a:latin typeface="Cantarell"/>
                <a:ea typeface="Cantarell"/>
                <a:cs typeface="Cantarell"/>
              </a:rPr>
              <a:t>Componente principale</a:t>
            </a:r>
            <a:endParaRPr b="1">
              <a:latin typeface="Cantarell"/>
              <a:cs typeface="Cantarell"/>
            </a:endParaRPr>
          </a:p>
        </p:txBody>
      </p:sp>
      <p:sp>
        <p:nvSpPr>
          <p:cNvPr id="137420213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3213919"/>
            <a:ext cx="10972800" cy="21385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38080" indent="-438080">
              <a:buFont typeface="Arial"/>
              <a:buAutoNum type="arabicPeriod"/>
              <a:defRPr/>
            </a:pPr>
            <a:r>
              <a:rPr sz="28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de filtrare la nivel kernel</a:t>
            </a:r>
            <a:endParaRPr sz="2800">
              <a:solidFill>
                <a:srgbClr val="404040"/>
              </a:solidFill>
              <a:latin typeface="Cantarell"/>
              <a:cs typeface="Cantarell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sz="28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de intermediere</a:t>
            </a:r>
            <a:endParaRPr sz="2800">
              <a:solidFill>
                <a:srgbClr val="404040"/>
              </a:solidFill>
              <a:latin typeface="Cantarell"/>
              <a:cs typeface="Cantarell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sz="28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centrală</a:t>
            </a:r>
            <a:endParaRPr sz="2800">
              <a:solidFill>
                <a:srgbClr val="404040"/>
              </a:solidFill>
              <a:latin typeface="Cantarell"/>
              <a:cs typeface="Cantarell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sz="28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de administrare</a:t>
            </a:r>
            <a:endParaRPr sz="2800">
              <a:solidFill>
                <a:srgbClr val="404040"/>
              </a:solidFill>
              <a:latin typeface="Cantarell"/>
              <a:cs typeface="Cantarell"/>
            </a:endParaRPr>
          </a:p>
        </p:txBody>
      </p:sp>
      <p:pic>
        <p:nvPicPr>
          <p:cNvPr id="1864314322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9046976" y="3392440"/>
            <a:ext cx="922500" cy="922500"/>
          </a:xfrm>
          <a:prstGeom prst="rect">
            <a:avLst/>
          </a:prstGeom>
        </p:spPr>
      </p:pic>
      <p:pic>
        <p:nvPicPr>
          <p:cNvPr id="18806352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8041976" y="4267451"/>
            <a:ext cx="937499" cy="937499"/>
          </a:xfrm>
          <a:prstGeom prst="rect">
            <a:avLst/>
          </a:prstGeom>
        </p:spPr>
      </p:pic>
      <p:pic>
        <p:nvPicPr>
          <p:cNvPr id="170647617" name="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9811976" y="4893292"/>
            <a:ext cx="932268" cy="932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878753" name="Title 1"/>
          <p:cNvSpPr>
            <a:spLocks noGrp="1"/>
          </p:cNvSpPr>
          <p:nvPr>
            <p:ph type="title"/>
          </p:nvPr>
        </p:nvSpPr>
        <p:spPr bwMode="auto">
          <a:xfrm>
            <a:off x="658760" y="846137"/>
            <a:ext cx="10972800" cy="1143000"/>
          </a:xfrm>
        </p:spPr>
        <p:txBody>
          <a:bodyPr/>
          <a:lstStyle/>
          <a:p>
            <a:pPr>
              <a:defRPr/>
            </a:pPr>
            <a:r>
              <a:rPr b="1"/>
              <a:t>Cum funcționează ?</a:t>
            </a:r>
            <a:endParaRPr b="1"/>
          </a:p>
        </p:txBody>
      </p:sp>
      <p:sp>
        <p:nvSpPr>
          <p:cNvPr id="143348826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3385932"/>
            <a:ext cx="10972800" cy="151785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>
                <a:latin typeface="Cantarell"/>
                <a:ea typeface="Cantarell"/>
                <a:cs typeface="Cantarell"/>
              </a:rPr>
              <a:t>Aplicarea regulilor alese pe echipament</a:t>
            </a:r>
            <a:endParaRPr sz="2800">
              <a:latin typeface="Cantarell"/>
              <a:cs typeface="Cantarell"/>
            </a:endParaRPr>
          </a:p>
          <a:p>
            <a:pPr>
              <a:defRPr/>
            </a:pPr>
            <a:r>
              <a:rPr sz="28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Extragerea </a:t>
            </a:r>
            <a:r>
              <a:rPr sz="2800">
                <a:latin typeface="Cantarell"/>
                <a:ea typeface="Cantarell"/>
                <a:cs typeface="Cantarell"/>
              </a:rPr>
              <a:t>și vizualizarea conexiunilor în mod grafic</a:t>
            </a:r>
            <a:endParaRPr sz="2800">
              <a:latin typeface="Cantarell"/>
              <a:cs typeface="Cantarell"/>
            </a:endParaRPr>
          </a:p>
          <a:p>
            <a:pPr>
              <a:defRPr/>
            </a:pPr>
            <a:r>
              <a:rPr sz="2800">
                <a:latin typeface="Cantarell"/>
                <a:ea typeface="Cantarell"/>
                <a:cs typeface="Cantarell"/>
              </a:rPr>
              <a:t>Modificarea acestora în timp real</a:t>
            </a:r>
            <a:endParaRPr sz="2800">
              <a:latin typeface="Cantarell"/>
              <a:cs typeface="Cantarell"/>
            </a:endParaRPr>
          </a:p>
        </p:txBody>
      </p:sp>
      <p:pic>
        <p:nvPicPr>
          <p:cNvPr id="1837265332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9105374" y="5339999"/>
            <a:ext cx="787892" cy="787892"/>
          </a:xfrm>
          <a:prstGeom prst="rect">
            <a:avLst/>
          </a:prstGeom>
        </p:spPr>
      </p:pic>
      <p:pic>
        <p:nvPicPr>
          <p:cNvPr id="769693195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1945847" y="1866899"/>
            <a:ext cx="988279" cy="9882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3077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-7257" y="1197879"/>
            <a:ext cx="4840061" cy="1206047"/>
          </a:xfrm>
        </p:spPr>
        <p:txBody>
          <a:bodyPr/>
          <a:lstStyle/>
          <a:p>
            <a:pPr algn="ctr">
              <a:defRPr/>
            </a:pPr>
            <a:r>
              <a:rPr/>
              <a:t>DEMO</a:t>
            </a:r>
            <a:endParaRPr/>
          </a:p>
        </p:txBody>
      </p:sp>
      <p:pic>
        <p:nvPicPr>
          <p:cNvPr id="929907452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4832803" y="43089"/>
            <a:ext cx="6779553" cy="67795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097742" name="Title 1"/>
          <p:cNvSpPr>
            <a:spLocks noGrp="1"/>
          </p:cNvSpPr>
          <p:nvPr>
            <p:ph type="title"/>
          </p:nvPr>
        </p:nvSpPr>
        <p:spPr bwMode="auto">
          <a:xfrm>
            <a:off x="609598" y="1978024"/>
            <a:ext cx="10972800" cy="1143000"/>
          </a:xfrm>
        </p:spPr>
        <p:txBody>
          <a:bodyPr/>
          <a:lstStyle/>
          <a:p>
            <a:pPr algn="ctr">
              <a:defRPr/>
            </a:pPr>
            <a:r>
              <a:rPr/>
              <a:t>Vă mulțumesc!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modified xsi:type="dcterms:W3CDTF">2026-06-30T20:14:00Z</dcterms:modified>
</cp:coreProperties>
</file>